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396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ruasthana20/bluestock_mf_capston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097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|  Bluestock Fintech Data Analyst Internship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 Asthana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7239D182-79F6-C3D4-0B97-7A90EFEF36EA}"/>
              </a:ext>
            </a:extLst>
          </p:cNvPr>
          <p:cNvSpPr/>
          <p:nvPr/>
        </p:nvSpPr>
        <p:spPr>
          <a:xfrm>
            <a:off x="640080" y="1089559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17754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mutual fund industry generates large volumes of investment, portfolio, and performance data. Extracting meaningful insights is essential for investors, fund managers, and financial institutions.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371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an ETL pipeline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32588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371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&amp; validate datasets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194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Exploratory data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214884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E0F2FE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21945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performance metrics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3017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Analyze investor behavior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97180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30175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Develop risk analytics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840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Build recommendation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379476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384048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Create interactive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comprehensive datasets powering the analytics pipeline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399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5506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codes, fund house, 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4960" y="13990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65506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from 2022–2026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4400" y="2130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3865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AUM per AMC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94960" y="21305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4960" y="23865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trend over 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2862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181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Equity, debt, hybrid flows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88036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94960" y="28620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94960" y="311810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folio statistics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4400" y="35935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38496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3yr/5yr returns, Sharpe, Alpha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61188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5394960" y="35935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84962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SIP, Lumpsum, Redemption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34340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914400" y="4325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581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&amp; stock allocation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43434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394960" y="43251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94960" y="45811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NIFTY50, NIFTY100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048256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5860" y="204692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8016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0312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5980" y="2021127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24028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06324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1820" y="204211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02336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46220" y="2046924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6052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98348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1970532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2064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94360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6460" y="2068179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8076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0372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04211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04088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63840" y="2331720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1371600"/>
            <a:ext cx="822960" cy="201168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01000" y="14173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workflow from raw AMFI data to interactive dashboards</a:t>
            </a:r>
            <a:endParaRPr lang="en-US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578222-C8F9-1E78-E0DF-73151C37BA6C}"/>
              </a:ext>
            </a:extLst>
          </p:cNvPr>
          <p:cNvSpPr txBox="1"/>
          <p:nvPr/>
        </p:nvSpPr>
        <p:spPr>
          <a:xfrm>
            <a:off x="8023860" y="2255395"/>
            <a:ext cx="724878" cy="2231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NAV Trends &amp; AUM Growth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164592" cy="16459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4173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grew from ₹30L Cr (2022) to ₹65L Cr+ (2025)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039112"/>
            <a:ext cx="164592" cy="16459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9933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100025 had the highest absolute NAV (~₹4,000+)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15184"/>
            <a:ext cx="164592" cy="16459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56946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long-term appreciation across all equity funds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191256"/>
            <a:ext cx="164592" cy="16459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31455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funds showed highest NAV acceleration in 2025–26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767328"/>
            <a:ext cx="164592" cy="164592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7216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funds maintained stable, low-volatility NAV growth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&amp; Category Analysis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4173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account for 60.15% of transactions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039112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9933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&amp; Tamil Nadu lead in transaction volumes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15184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56946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investment uniform (~₹1L) across age groups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191256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31455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investors (18–35) drive SIP participation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76732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7216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peaked in 2024 with ~24K monthly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Fund Scorecard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funds ranked by composite score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37160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91640" y="1051560"/>
            <a:ext cx="118872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1051560"/>
            <a:ext cx="118872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051560"/>
            <a:ext cx="118872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1051560"/>
            <a:ext cx="128016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0515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1051560"/>
            <a:ext cx="1188720" cy="34747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0515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417320"/>
            <a:ext cx="8503920" cy="329184"/>
          </a:xfrm>
          <a:prstGeom prst="rect">
            <a:avLst/>
          </a:prstGeom>
          <a:solidFill>
            <a:srgbClr val="0D2547"/>
          </a:solidFill>
          <a:ln w="12700">
            <a:solidFill>
              <a:srgbClr val="0D2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4173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120505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14173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80360" y="14173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69080" y="14173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29.3%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14173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-18.2%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141732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1764792"/>
            <a:ext cx="8503920" cy="329184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7647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119598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17647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17647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069080" y="17647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57800" y="17647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-28.7%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176479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112264"/>
            <a:ext cx="8503920" cy="329184"/>
          </a:xfrm>
          <a:prstGeom prst="rect">
            <a:avLst/>
          </a:prstGeom>
          <a:solidFill>
            <a:srgbClr val="0D2547"/>
          </a:solidFill>
          <a:ln w="12700">
            <a:solidFill>
              <a:srgbClr val="0D2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1122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149324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2112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80360" y="2112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69080" y="2112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1122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-31.2%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21122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459736"/>
            <a:ext cx="8503920" cy="329184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4597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120843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691640" y="24597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80360" y="24597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1.31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69080" y="24597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57800" y="24597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37960" y="245973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2807208"/>
            <a:ext cx="8503920" cy="329184"/>
          </a:xfrm>
          <a:prstGeom prst="rect">
            <a:avLst/>
          </a:prstGeom>
          <a:solidFill>
            <a:srgbClr val="0D2547"/>
          </a:solidFill>
          <a:ln w="12700">
            <a:solidFill>
              <a:srgbClr val="0D25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28072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100033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91640" y="28072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880360" y="28072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69080" y="28072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57800" y="28072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-16.2%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37960" y="280720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3154680"/>
            <a:ext cx="8503920" cy="329184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1546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148567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91640" y="3154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80360" y="3154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069080" y="3154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57800" y="31546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-11.3%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537960" y="31546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3502152"/>
            <a:ext cx="8503920" cy="329184"/>
          </a:xfrm>
          <a:prstGeom prst="rect">
            <a:avLst/>
          </a:prstGeom>
          <a:solidFill>
            <a:srgbClr val="0D2547"/>
          </a:solidFill>
          <a:ln w="12700">
            <a:solidFill>
              <a:srgbClr val="0D25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350215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148569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691640" y="3502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880360" y="3502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69080" y="3502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257800" y="35021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-16.4%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537960" y="350215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76.9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3849624"/>
            <a:ext cx="8503920" cy="329184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384962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119094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691640" y="3849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28.2%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880360" y="3849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069080" y="3849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26.1%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257800" y="38496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-21.0%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537960" y="384962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0040" y="4197096"/>
            <a:ext cx="8503920" cy="329184"/>
          </a:xfrm>
          <a:prstGeom prst="rect">
            <a:avLst/>
          </a:prstGeom>
          <a:solidFill>
            <a:srgbClr val="0D2547"/>
          </a:solidFill>
          <a:ln w="12700">
            <a:solidFill>
              <a:srgbClr val="0D254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41970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119551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691640" y="41970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2880360" y="41970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069080" y="41970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23.2%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257800" y="41970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-15.0%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6537960" y="419709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20040" y="4544568"/>
            <a:ext cx="8503920" cy="329184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54456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118632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1691640" y="45445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880360" y="45445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069080" y="45445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257800" y="4544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-17.4%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537960" y="45445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CAGR · Sharpe Ratio · Alpha · Beta · Max Drawdown · Expense Ratio · Sortino Ratio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— Benchmark Comparison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960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4173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5 funds outperformed NIFTY50 &amp; NIFTY100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03911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99339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120505 achieved 3.2× growth vs NIFTY50's 1.1×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151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56946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NIFTY100 underperformed even the indices over period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1912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314553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149324 showed spike to 4.1× in mid-2026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7673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7216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identifies consistently stable performers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Industry Overview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859536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·  Filters: Fund House | Category | Date Range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Fund Performance &amp; Investor Analytics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429768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868680"/>
            <a:ext cx="411480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023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filtering by category/plan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return scatter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tracking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segmentation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SIP/Lumpsum split analysis</a:t>
            </a:r>
            <a:endParaRPr lang="en-US" sz="1000" dirty="0"/>
          </a:p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State-wise transaction mapping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3977640"/>
          </a:xfrm>
          <a:prstGeom prst="roundRect">
            <a:avLst>
              <a:gd name="adj" fmla="val 2299"/>
            </a:avLst>
          </a:prstGeom>
          <a:solidFill>
            <a:srgbClr val="DBEAFE"/>
          </a:solidFill>
          <a:ln w="635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90472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490472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funds dominate industry assets with highest inflows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148840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reached record levels; 60%+ of all 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07208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80720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funds consistently outperformed benchmarks by 2–3×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465576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465576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participation increased significantly across all demographics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123944"/>
            <a:ext cx="320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4123944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portfolios exhibit high sector concentration risk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069080" cy="3977640"/>
          </a:xfrm>
          <a:prstGeom prst="roundRect">
            <a:avLst>
              <a:gd name="adj" fmla="val 2299"/>
            </a:avLst>
          </a:prstGeom>
          <a:solidFill>
            <a:srgbClr val="F0FDF4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058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572768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1490472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concentrated portfolios to reduce sector risk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231136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148840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downside risk actively using Value-at-Risk (VaR) models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889504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2807208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investor retention through SIP continuity tracking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54787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465576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coverage to newer small/mid-cap schemes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4206240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4123944"/>
            <a:ext cx="336499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ML for personalized fund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0A7EA4">
              <a:alpha val="20000"/>
            </a:srgbClr>
          </a:solidFill>
          <a:ln w="12700">
            <a:solidFill>
              <a:srgbClr val="0A7EA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 Analytics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Puru Asthana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·  Data Analyst Intern  ·  June 2026</a:t>
            </a:r>
            <a:endParaRPr lang="en-US" sz="12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u="sng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https://github.com/puruasthana20/bluestock_mf_capstone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112</TotalTime>
  <Words>721</Words>
  <Application>Microsoft Office PowerPoint</Application>
  <PresentationFormat>On-screen Show (16:9)</PresentationFormat>
  <Paragraphs>206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</dc:title>
  <dc:subject>PptxGenJS Presentation</dc:subject>
  <dc:creator>Puru Asthana</dc:creator>
  <cp:lastModifiedBy>Puru Asthana</cp:lastModifiedBy>
  <cp:revision>2</cp:revision>
  <dcterms:created xsi:type="dcterms:W3CDTF">2026-06-11T11:42:30Z</dcterms:created>
  <dcterms:modified xsi:type="dcterms:W3CDTF">2026-06-11T13:38:22Z</dcterms:modified>
</cp:coreProperties>
</file>